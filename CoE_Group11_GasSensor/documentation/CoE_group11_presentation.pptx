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Poppins"/>
      <p:bold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Poppins Medium"/>
      <p:regular r:id="rId26"/>
      <p:bold r:id="rId27"/>
      <p:italic r:id="rId28"/>
      <p:boldItalic r:id="rId29"/>
    </p:embeddedFont>
    <p:embeddedFont>
      <p:font typeface="Poppi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5E997A-D23C-4C45-B02D-7996CB5512B3}">
  <a:tblStyle styleId="{BA5E997A-D23C-4C45-B02D-7996CB5512B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PoppinsMedium-italic.fntdata"/><Relationship Id="rId27" Type="http://schemas.openxmlformats.org/officeDocument/2006/relationships/font" Target="fonts/PoppinsMedium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Medium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SemiBold-bold.fntdata"/><Relationship Id="rId30" Type="http://schemas.openxmlformats.org/officeDocument/2006/relationships/font" Target="fonts/PoppinsSemiBold-regular.fntdata"/><Relationship Id="rId11" Type="http://schemas.openxmlformats.org/officeDocument/2006/relationships/slide" Target="slides/slide5.xml"/><Relationship Id="rId33" Type="http://schemas.openxmlformats.org/officeDocument/2006/relationships/font" Target="fonts/PoppinsSemiBold-boldItalic.fntdata"/><Relationship Id="rId10" Type="http://schemas.openxmlformats.org/officeDocument/2006/relationships/slide" Target="slides/slide4.xml"/><Relationship Id="rId32" Type="http://schemas.openxmlformats.org/officeDocument/2006/relationships/font" Target="fonts/PoppinsSemiBold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d3c2a7cc53_0_9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d3cb17afab_0_20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 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">
  <p:cSld name="Generated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40.png"/><Relationship Id="rId6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10.png"/><Relationship Id="rId7" Type="http://schemas.openxmlformats.org/officeDocument/2006/relationships/image" Target="../media/image8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22.png"/><Relationship Id="rId10" Type="http://schemas.openxmlformats.org/officeDocument/2006/relationships/image" Target="../media/image32.png"/><Relationship Id="rId13" Type="http://schemas.openxmlformats.org/officeDocument/2006/relationships/image" Target="../media/image20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9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38.png"/><Relationship Id="rId8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41.png"/><Relationship Id="rId10" Type="http://schemas.openxmlformats.org/officeDocument/2006/relationships/image" Target="../media/image39.png"/><Relationship Id="rId1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2.png"/><Relationship Id="rId9" Type="http://schemas.openxmlformats.org/officeDocument/2006/relationships/image" Target="../media/image35.png"/><Relationship Id="rId5" Type="http://schemas.openxmlformats.org/officeDocument/2006/relationships/image" Target="../media/image3.png"/><Relationship Id="rId6" Type="http://schemas.openxmlformats.org/officeDocument/2006/relationships/image" Target="../media/image19.png"/><Relationship Id="rId7" Type="http://schemas.openxmlformats.org/officeDocument/2006/relationships/image" Target="../media/image38.png"/><Relationship Id="rId8" Type="http://schemas.openxmlformats.org/officeDocument/2006/relationships/image" Target="../media/image3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7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1.png"/><Relationship Id="rId5" Type="http://schemas.openxmlformats.org/officeDocument/2006/relationships/image" Target="../media/image44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3.png"/><Relationship Id="rId4" Type="http://schemas.openxmlformats.org/officeDocument/2006/relationships/image" Target="../media/image2.png"/><Relationship Id="rId5" Type="http://schemas.openxmlformats.org/officeDocument/2006/relationships/image" Target="../media/image4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/>
        </p:nvSpPr>
        <p:spPr>
          <a:xfrm>
            <a:off x="762000" y="571500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185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Smart Gas Leakage Detection System</a:t>
            </a:r>
            <a:endParaRPr b="1" sz="4185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b="0" lang="en-US" sz="1628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Real-time Air Quality Monitoring with ESP32 &amp; Telegram</a:t>
            </a:r>
            <a:endParaRPr b="0" sz="1628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0" name="Google Shape;90;p15"/>
          <p:cNvGrpSpPr/>
          <p:nvPr/>
        </p:nvGrpSpPr>
        <p:grpSpPr>
          <a:xfrm>
            <a:off x="0" y="6096000"/>
            <a:ext cx="12192000" cy="762000"/>
            <a:chOff x="0" y="6096000"/>
            <a:chExt cx="12192000" cy="762000"/>
          </a:xfrm>
        </p:grpSpPr>
        <p:sp>
          <p:nvSpPr>
            <p:cNvPr id="91" name="Google Shape;91;p15"/>
            <p:cNvSpPr/>
            <p:nvPr/>
          </p:nvSpPr>
          <p:spPr>
            <a:xfrm>
              <a:off x="0" y="6096000"/>
              <a:ext cx="12192000" cy="762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762000" y="6096000"/>
              <a:ext cx="10668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3B82F6"/>
                  </a:solidFill>
                  <a:latin typeface="Poppins"/>
                  <a:ea typeface="Poppins"/>
                  <a:cs typeface="Poppins"/>
                  <a:sym typeface="Poppins"/>
                </a:rPr>
                <a:t>CoE 3 Group 11 | Kwame Nkrumah University of Science and Technology</a:t>
              </a:r>
              <a:endParaRPr b="1" sz="150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571500" y="6286500"/>
              <a:ext cx="95400" cy="38100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15"/>
          <p:cNvSpPr/>
          <p:nvPr/>
        </p:nvSpPr>
        <p:spPr>
          <a:xfrm>
            <a:off x="762000" y="2190750"/>
            <a:ext cx="106680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762000" y="2190750"/>
            <a:ext cx="10668000" cy="476400"/>
          </a:xfrm>
          <a:prstGeom prst="roundRect">
            <a:avLst>
              <a:gd fmla="val 24000" name="adj"/>
            </a:avLst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762000" y="2476500"/>
            <a:ext cx="10668000" cy="190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7" name="Google Shape;97;p15"/>
          <p:cNvGrpSpPr/>
          <p:nvPr/>
        </p:nvGrpSpPr>
        <p:grpSpPr>
          <a:xfrm>
            <a:off x="762000" y="2190750"/>
            <a:ext cx="10668000" cy="476400"/>
            <a:chOff x="762000" y="2190750"/>
            <a:chExt cx="10668000" cy="476400"/>
          </a:xfrm>
        </p:grpSpPr>
        <p:sp>
          <p:nvSpPr>
            <p:cNvPr id="98" name="Google Shape;98;p15"/>
            <p:cNvSpPr txBox="1"/>
            <p:nvPr/>
          </p:nvSpPr>
          <p:spPr>
            <a:xfrm>
              <a:off x="762000" y="2190750"/>
              <a:ext cx="952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No.</a:t>
              </a:r>
              <a:endParaRPr b="1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1714500" y="2190750"/>
              <a:ext cx="5715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905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Member Name</a:t>
              </a:r>
              <a:endParaRPr b="1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00" name="Google Shape;100;p15"/>
            <p:cNvSpPr txBox="1"/>
            <p:nvPr/>
          </p:nvSpPr>
          <p:spPr>
            <a:xfrm>
              <a:off x="7429500" y="2190750"/>
              <a:ext cx="400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9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Student ID</a:t>
              </a:r>
              <a:endParaRPr b="1" sz="1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01" name="Google Shape;101;p15"/>
          <p:cNvGrpSpPr/>
          <p:nvPr/>
        </p:nvGrpSpPr>
        <p:grpSpPr>
          <a:xfrm>
            <a:off x="762000" y="2667115"/>
            <a:ext cx="10668000" cy="3429135"/>
            <a:chOff x="762000" y="2667000"/>
            <a:chExt cx="10668000" cy="3143400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762000" y="2667000"/>
              <a:ext cx="952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1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2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3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4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5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6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7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8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938"/>
                </a:spcBef>
                <a:spcAft>
                  <a:spcPts val="0"/>
                </a:spcAft>
                <a:buNone/>
              </a:pPr>
              <a:r>
                <a:rPr b="0" lang="en-US" sz="1600">
                  <a:solidFill>
                    <a:srgbClr val="64748B"/>
                  </a:solidFill>
                  <a:latin typeface="Lato"/>
                  <a:ea typeface="Lato"/>
                  <a:cs typeface="Lato"/>
                  <a:sym typeface="Lato"/>
                </a:rPr>
                <a:t>9</a:t>
              </a:r>
              <a:endParaRPr b="0" sz="160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1714500" y="2667000"/>
              <a:ext cx="57150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9050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Lawrinda Kwaah Obo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Akua Adobea Kwakye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Ohemeng Richmond Nana Yaw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Noye Isobel Naa Norkor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Michelle Grace Kyei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Obeng Emmanuella Yaa Agyapomaa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Mbafor Joshua Foghang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Ernest Mpiani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  <a:p>
              <a:pPr indent="0" lvl="0" marL="0" rtl="0" algn="l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0" lang="en-US" sz="1700">
                  <a:solidFill>
                    <a:srgbClr val="1E293B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Ntow Emmanuel Akyea</a:t>
              </a:r>
              <a:endParaRPr b="0" sz="1700">
                <a:solidFill>
                  <a:srgbClr val="1E293B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4" name="Google Shape;104;p15"/>
            <p:cNvSpPr txBox="1"/>
            <p:nvPr/>
          </p:nvSpPr>
          <p:spPr>
            <a:xfrm>
              <a:off x="7429500" y="2667000"/>
              <a:ext cx="40005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72783233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72741233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72791233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72772233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72743233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72781233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72755233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72761233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825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72778233</a:t>
              </a:r>
              <a:endParaRPr b="1" sz="17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cxnSp>
        <p:nvCxnSpPr>
          <p:cNvPr id="105" name="Google Shape;105;p15"/>
          <p:cNvCxnSpPr/>
          <p:nvPr/>
        </p:nvCxnSpPr>
        <p:spPr>
          <a:xfrm>
            <a:off x="1714500" y="2190750"/>
            <a:ext cx="0" cy="3619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" name="Google Shape;106;p15"/>
          <p:cNvCxnSpPr/>
          <p:nvPr/>
        </p:nvCxnSpPr>
        <p:spPr>
          <a:xfrm>
            <a:off x="7429500" y="2190750"/>
            <a:ext cx="0" cy="3619500"/>
          </a:xfrm>
          <a:prstGeom prst="straightConnector1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571500" y="211455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Safety First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571500" y="2705100"/>
            <a:ext cx="52387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 smart safety system designed to monitor combustible gases in real-time. It provides local alerts via a buzzer and LEDs while ensuring remote stakeholders are notified instantly through Telegram.</a:t>
            </a:r>
            <a:endParaRPr/>
          </a:p>
        </p:txBody>
      </p:sp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1000125" y="40386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Continuous air quality monitoring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1000125" y="459105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Multi-level alert thresholds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1000125" y="51435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Remote IoT control capabilities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814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339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18636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System Overview</a:t>
            </a:r>
            <a:endParaRPr/>
          </a:p>
        </p:txBody>
      </p:sp>
      <p:sp>
        <p:nvSpPr>
          <p:cNvPr id="123" name="Google Shape;123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2257425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Detection Capabilities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500" y="2847975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MQ-2 is a versatile sensor used to detect a wide range of combustible gases. It serves as the primary input for our ESP32-based detection logic.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1000125" y="38957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LPG &amp; Propane Detection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1000125" y="444817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Smoke &amp; Hydrogen Detection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1000125" y="5000625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High Sensitivity &amp; Fast Response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3858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491037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43487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Hardware: MQ-2 Gas Sensor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6" name="Google Shape;146;p18"/>
          <p:cNvGraphicFramePr/>
          <p:nvPr/>
        </p:nvGraphicFramePr>
        <p:xfrm>
          <a:off x="571500" y="253841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{BA5E997A-D23C-4C45-B02D-7996CB5512B3}</a:tableStyleId>
              </a:tblPr>
              <a:tblGrid>
                <a:gridCol w="2664925"/>
                <a:gridCol w="1887000"/>
                <a:gridCol w="3212300"/>
                <a:gridCol w="3284775"/>
              </a:tblGrid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PPM 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Condition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Hardware Response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Telegram Status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0 - 950 PPM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SAFE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Green LED 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Normal Operation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951 - 1150 PPM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Yellow / Warning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Warning Push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83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1151+ PPM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DANGER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Red LED + Buzzer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IMMEDIATE ALERT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18"/>
          <p:cNvSpPr/>
          <p:nvPr/>
        </p:nvSpPr>
        <p:spPr>
          <a:xfrm>
            <a:off x="571500" y="3905250"/>
            <a:ext cx="2664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3236416" y="3905250"/>
            <a:ext cx="18869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123408" y="3905250"/>
            <a:ext cx="32123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8335714" y="3905250"/>
            <a:ext cx="3284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4581525"/>
            <a:ext cx="2664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3236416" y="4581525"/>
            <a:ext cx="18869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5123408" y="4581525"/>
            <a:ext cx="32123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335714" y="4581525"/>
            <a:ext cx="3284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5257800"/>
            <a:ext cx="266491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3236416" y="5257800"/>
            <a:ext cx="18869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123408" y="5257800"/>
            <a:ext cx="32123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8335714" y="5257800"/>
            <a:ext cx="328478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PPM Thresholds &amp; Logic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5" name="Google Shape;16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/>
          <p:nvPr/>
        </p:nvSpPr>
        <p:spPr>
          <a:xfrm>
            <a:off x="5715000" y="2900362"/>
            <a:ext cx="762000" cy="571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295275" y="3243262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The Telegram Interface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367188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Complete Remote Control and Monitoring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9750"/>
            <a:ext cx="35559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809750"/>
            <a:ext cx="3555950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809750"/>
            <a:ext cx="3556099" cy="2114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14800"/>
            <a:ext cx="35559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17950" y="4114800"/>
            <a:ext cx="3555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/>
        </p:nvSpPr>
        <p:spPr>
          <a:xfrm>
            <a:off x="1894343" y="2743200"/>
            <a:ext cx="91011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/status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66775" y="3171825"/>
            <a:ext cx="2965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Check current gas PPM level and system status.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610790" y="2743200"/>
            <a:ext cx="97012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/history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4952851" y="3171825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View the recent log of gas readings.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9072354" y="2743200"/>
            <a:ext cx="154019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/test_alarm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8475612" y="3171825"/>
            <a:ext cx="2733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Remotely trigger the buzzer to test sound.</a:t>
            </a:r>
            <a:endParaRPr/>
          </a:p>
        </p:txBody>
      </p:sp>
      <p:sp>
        <p:nvSpPr>
          <p:cNvPr id="185" name="Google Shape;185;p20"/>
          <p:cNvSpPr txBox="1"/>
          <p:nvPr/>
        </p:nvSpPr>
        <p:spPr>
          <a:xfrm>
            <a:off x="1869340" y="5048250"/>
            <a:ext cx="9601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/restart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1220688" y="5476875"/>
            <a:ext cx="22574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Reboot the ESP32 microcontroller.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5765809" y="5048250"/>
            <a:ext cx="66008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/help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038576" y="5476875"/>
            <a:ext cx="21145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List all available user commands.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39850" y="2152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886301" y="21526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656712" y="2152650"/>
            <a:ext cx="3714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139850" y="44577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5886301" y="4457700"/>
            <a:ext cx="4191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Everyone's Commands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24050"/>
            <a:ext cx="35559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1924050"/>
            <a:ext cx="35559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1924050"/>
            <a:ext cx="3556099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000500"/>
            <a:ext cx="3555950" cy="1885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4000500"/>
            <a:ext cx="3555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649313" y="2857500"/>
            <a:ext cx="14001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/alarm_off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1077813" y="3286125"/>
            <a:ext cx="2543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Mute the active buzzer alarm manually.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5405764" y="2857500"/>
            <a:ext cx="138017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/alarm_on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4862363" y="3286125"/>
            <a:ext cx="2466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Enable the buzzer alarm system again.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9002345" y="2857500"/>
            <a:ext cx="16802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/reset_alarm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599437" y="3286125"/>
            <a:ext cx="2486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Clear current alarm state and red LED.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1674316" y="4933950"/>
            <a:ext cx="135016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/shutdown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1201638" y="5362575"/>
            <a:ext cx="22955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Turn off active sensing until restart.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185737" y="4933950"/>
            <a:ext cx="182022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/reset_system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4914751" y="5362575"/>
            <a:ext cx="2362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Factory reset configuration settings.</a:t>
            </a:r>
            <a:endParaRPr/>
          </a:p>
        </p:txBody>
      </p:sp>
      <p:pic>
        <p:nvPicPr>
          <p:cNvPr descr="image.png" id="216" name="Google Shape;216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11275" y="2266950"/>
            <a:ext cx="47625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33913" y="2266950"/>
            <a:ext cx="523875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632900" y="226695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139850" y="4343400"/>
            <a:ext cx="4191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910113" y="4343400"/>
            <a:ext cx="37147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1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Admin-Only Commands</a:t>
            </a:r>
            <a:endParaRPr/>
          </a:p>
        </p:txBody>
      </p:sp>
      <p:sp>
        <p:nvSpPr>
          <p:cNvPr id="222" name="Google Shape;222;p21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502443" y="4429125"/>
            <a:ext cx="2900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1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571500" y="5019675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Create bot via @BotFather and get API Token.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3264693" y="2505075"/>
            <a:ext cx="2900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2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3333750" y="3095625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Add Bot to Group &amp; promote to Admin.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6026943" y="4429125"/>
            <a:ext cx="2900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3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6096000" y="5019675"/>
            <a:ext cx="2762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Get Group ID via @userinfobot.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789193" y="2505075"/>
            <a:ext cx="29003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Step 4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8858250" y="3095625"/>
            <a:ext cx="27622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Collect Admin IDs for restricted access.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Bot Setup Process</a:t>
            </a: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1838325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4600575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7362825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10125075" y="4029075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47625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762000" y="762000"/>
            <a:ext cx="5000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Configuring the Code</a:t>
            </a:r>
            <a:endParaRPr/>
          </a:p>
        </p:txBody>
      </p:sp>
      <p:sp>
        <p:nvSpPr>
          <p:cNvPr id="249" name="Google Shape;249;p23"/>
          <p:cNvSpPr/>
          <p:nvPr/>
        </p:nvSpPr>
        <p:spPr>
          <a:xfrm>
            <a:off x="571500" y="7620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3"/>
          <p:cNvSpPr txBox="1"/>
          <p:nvPr/>
        </p:nvSpPr>
        <p:spPr>
          <a:xfrm>
            <a:off x="571500" y="22002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system is highly configurable. The ESP32 firmware requires the following key variables to be defined before deployment: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2395537" y="3590925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SSID &amp; Password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2395537" y="4143375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BOTtoken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2395537" y="4695825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CHAT_ID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2395537" y="5248275"/>
            <a:ext cx="17335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ADMIN_IDS Array</a:t>
            </a:r>
            <a:endParaRPr/>
          </a:p>
        </p:txBody>
      </p:sp>
      <p:pic>
        <p:nvPicPr>
          <p:cNvPr descr="image.png" id="256" name="Google Shape;25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66912" y="3633787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66912" y="41862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66912" y="473868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966912" y="5291137"/>
            <a:ext cx="3143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6381750" y="2400300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I2C LCD Integration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381750" y="299085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16x2 LCD provides on-site monitoring without needing a phone. It displays: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810375" y="375285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PPM Values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810375" y="430530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Current Safety Status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810375" y="4857750"/>
            <a:ext cx="48101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Network Connection Strength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79571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3481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90061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 Feedback (LCD)</a:t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1" name="Google Shape;28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5"/>
          <p:cNvSpPr txBox="1"/>
          <p:nvPr/>
        </p:nvSpPr>
        <p:spPr>
          <a:xfrm>
            <a:off x="2781300" y="2876550"/>
            <a:ext cx="7058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UniversalTelegramBot: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Developed by Brian Lough for Telegram API handling.</a:t>
            </a:r>
            <a:endParaRPr/>
          </a:p>
        </p:txBody>
      </p:sp>
      <p:sp>
        <p:nvSpPr>
          <p:cNvPr id="283" name="Google Shape;283;p25"/>
          <p:cNvSpPr txBox="1"/>
          <p:nvPr/>
        </p:nvSpPr>
        <p:spPr>
          <a:xfrm>
            <a:off x="2781300" y="3429000"/>
            <a:ext cx="7058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LiquidCrystal_I2C: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efficient 2-wire control of the LCD screen.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2781300" y="3981450"/>
            <a:ext cx="7058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WiFi &amp; WiFiClientSecure: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Essential for secure cloud communication.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2781300" y="4533900"/>
            <a:ext cx="70580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Preferences: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To save non-volatile settings (like alarm state) on the ESP32.</a:t>
            </a:r>
            <a:endParaRPr/>
          </a:p>
        </p:txBody>
      </p:sp>
      <p:pic>
        <p:nvPicPr>
          <p:cNvPr descr="image.png" id="286" name="Google Shape;2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675" y="2919412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675" y="3471862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675" y="4024312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52675" y="4576762"/>
            <a:ext cx="190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Development Libraries</a:t>
            </a:r>
            <a:endParaRPr/>
          </a:p>
        </p:txBody>
      </p:sp>
      <p:sp>
        <p:nvSpPr>
          <p:cNvPr id="291" name="Google Shape;291;p2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/>
          <p:nvPr/>
        </p:nvSpPr>
        <p:spPr>
          <a:xfrm>
            <a:off x="381000" y="428625"/>
            <a:ext cx="76200" cy="428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8" name="Google Shape;298;p26"/>
          <p:cNvGrpSpPr/>
          <p:nvPr/>
        </p:nvGrpSpPr>
        <p:grpSpPr>
          <a:xfrm>
            <a:off x="381000" y="1333500"/>
            <a:ext cx="4191000" cy="857400"/>
            <a:chOff x="381000" y="1333500"/>
            <a:chExt cx="4191000" cy="857400"/>
          </a:xfrm>
        </p:grpSpPr>
        <p:sp>
          <p:nvSpPr>
            <p:cNvPr id="299" name="Google Shape;299;p26"/>
            <p:cNvSpPr/>
            <p:nvPr/>
          </p:nvSpPr>
          <p:spPr>
            <a:xfrm>
              <a:off x="381000" y="1333500"/>
              <a:ext cx="419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26"/>
            <p:cNvSpPr txBox="1"/>
            <p:nvPr/>
          </p:nvSpPr>
          <p:spPr>
            <a:xfrm>
              <a:off x="571500" y="151142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verified_user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1" name="Google Shape;301;p26"/>
            <p:cNvSpPr txBox="1"/>
            <p:nvPr/>
          </p:nvSpPr>
          <p:spPr>
            <a:xfrm>
              <a:off x="1047750" y="1428750"/>
              <a:ext cx="3333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Gas Detection Precision</a:t>
              </a:r>
              <a:endParaRPr b="1" sz="119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System successfully detected gas at correct thresholds.</a:t>
              </a:r>
              <a:endParaRPr b="0" sz="110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2" name="Google Shape;302;p26"/>
          <p:cNvGrpSpPr/>
          <p:nvPr/>
        </p:nvGrpSpPr>
        <p:grpSpPr>
          <a:xfrm>
            <a:off x="381000" y="2333625"/>
            <a:ext cx="4191000" cy="857400"/>
            <a:chOff x="381000" y="2333625"/>
            <a:chExt cx="4191000" cy="857400"/>
          </a:xfrm>
        </p:grpSpPr>
        <p:sp>
          <p:nvSpPr>
            <p:cNvPr id="303" name="Google Shape;303;p26"/>
            <p:cNvSpPr/>
            <p:nvPr/>
          </p:nvSpPr>
          <p:spPr>
            <a:xfrm>
              <a:off x="381000" y="2333625"/>
              <a:ext cx="419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6"/>
            <p:cNvSpPr txBox="1"/>
            <p:nvPr/>
          </p:nvSpPr>
          <p:spPr>
            <a:xfrm>
              <a:off x="571500" y="251155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5" name="Google Shape;305;p26"/>
            <p:cNvSpPr txBox="1"/>
            <p:nvPr/>
          </p:nvSpPr>
          <p:spPr>
            <a:xfrm>
              <a:off x="1047750" y="2428875"/>
              <a:ext cx="3333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Reliable Local Alarms</a:t>
              </a:r>
              <a:endParaRPr b="1" sz="119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Local alarms triggered at the right levels.</a:t>
              </a:r>
              <a:endParaRPr b="0" sz="110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06" name="Google Shape;306;p26"/>
          <p:cNvGrpSpPr/>
          <p:nvPr/>
        </p:nvGrpSpPr>
        <p:grpSpPr>
          <a:xfrm>
            <a:off x="381000" y="3333750"/>
            <a:ext cx="4191000" cy="857400"/>
            <a:chOff x="381000" y="3333750"/>
            <a:chExt cx="4191000" cy="857400"/>
          </a:xfrm>
        </p:grpSpPr>
        <p:sp>
          <p:nvSpPr>
            <p:cNvPr id="307" name="Google Shape;307;p26"/>
            <p:cNvSpPr/>
            <p:nvPr/>
          </p:nvSpPr>
          <p:spPr>
            <a:xfrm>
              <a:off x="381000" y="3333750"/>
              <a:ext cx="419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 txBox="1"/>
            <p:nvPr/>
          </p:nvSpPr>
          <p:spPr>
            <a:xfrm>
              <a:off x="571500" y="3511677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vibration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09" name="Google Shape;309;p26"/>
            <p:cNvSpPr txBox="1"/>
            <p:nvPr/>
          </p:nvSpPr>
          <p:spPr>
            <a:xfrm>
              <a:off x="1047750" y="3429000"/>
              <a:ext cx="3333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Real-Time Communication</a:t>
              </a:r>
              <a:endParaRPr b="1" sz="119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Telegram alerts delivered in real time.</a:t>
              </a:r>
              <a:endParaRPr b="0" sz="110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10" name="Google Shape;310;p26"/>
          <p:cNvGrpSpPr/>
          <p:nvPr/>
        </p:nvGrpSpPr>
        <p:grpSpPr>
          <a:xfrm>
            <a:off x="381000" y="4333875"/>
            <a:ext cx="4191000" cy="857400"/>
            <a:chOff x="381000" y="4333875"/>
            <a:chExt cx="4191000" cy="857400"/>
          </a:xfrm>
        </p:grpSpPr>
        <p:sp>
          <p:nvSpPr>
            <p:cNvPr id="311" name="Google Shape;311;p26"/>
            <p:cNvSpPr/>
            <p:nvPr/>
          </p:nvSpPr>
          <p:spPr>
            <a:xfrm>
              <a:off x="381000" y="4333875"/>
              <a:ext cx="4191000" cy="8574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26"/>
            <p:cNvSpPr txBox="1"/>
            <p:nvPr/>
          </p:nvSpPr>
          <p:spPr>
            <a:xfrm>
              <a:off x="571500" y="4511802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admin_panel_settings</a:t>
              </a:r>
              <a:endParaRPr b="0" sz="240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13" name="Google Shape;313;p26"/>
            <p:cNvSpPr txBox="1"/>
            <p:nvPr/>
          </p:nvSpPr>
          <p:spPr>
            <a:xfrm>
              <a:off x="1047750" y="4429125"/>
              <a:ext cx="33339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9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Admin Security</a:t>
              </a:r>
              <a:endParaRPr b="1" sz="119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105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Admin security enforced correctly.</a:t>
              </a:r>
              <a:endParaRPr b="0" sz="1105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14" name="Google Shape;314;p26"/>
          <p:cNvPicPr preferRelativeResize="0"/>
          <p:nvPr/>
        </p:nvPicPr>
        <p:blipFill rotWithShape="1">
          <a:blip r:embed="rId5">
            <a:alphaModFix/>
          </a:blip>
          <a:srcRect b="7148" l="0" r="0" t="7140"/>
          <a:stretch/>
        </p:blipFill>
        <p:spPr>
          <a:xfrm>
            <a:off x="4953000" y="1333500"/>
            <a:ext cx="6667500" cy="4000500"/>
          </a:xfrm>
          <a:prstGeom prst="roundRect">
            <a:avLst>
              <a:gd fmla="val 4761" name="adj"/>
            </a:avLst>
          </a:prstGeom>
          <a:noFill/>
          <a:ln>
            <a:noFill/>
          </a:ln>
        </p:spPr>
      </p:pic>
      <p:sp>
        <p:nvSpPr>
          <p:cNvPr id="315" name="Google Shape;315;p26"/>
          <p:cNvSpPr txBox="1"/>
          <p:nvPr/>
        </p:nvSpPr>
        <p:spPr>
          <a:xfrm>
            <a:off x="619125" y="428625"/>
            <a:ext cx="7620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– Findings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7"/>
          <p:cNvSpPr/>
          <p:nvPr/>
        </p:nvSpPr>
        <p:spPr>
          <a:xfrm>
            <a:off x="571500" y="571500"/>
            <a:ext cx="95400" cy="5715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762000" y="571500"/>
            <a:ext cx="10858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 – Possible Improvements</a:t>
            </a:r>
            <a:endParaRPr b="1" sz="300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22" name="Google Shape;322;p27"/>
          <p:cNvGrpSpPr/>
          <p:nvPr/>
        </p:nvGrpSpPr>
        <p:grpSpPr>
          <a:xfrm>
            <a:off x="571500" y="1428750"/>
            <a:ext cx="5524500" cy="952500"/>
            <a:chOff x="571500" y="1428750"/>
            <a:chExt cx="5524500" cy="952500"/>
          </a:xfrm>
        </p:grpSpPr>
        <p:sp>
          <p:nvSpPr>
            <p:cNvPr id="323" name="Google Shape;323;p27"/>
            <p:cNvSpPr/>
            <p:nvPr/>
          </p:nvSpPr>
          <p:spPr>
            <a:xfrm>
              <a:off x="571500" y="1428750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762000" y="17136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add_moderator</a:t>
              </a:r>
              <a:endParaRPr b="0" sz="2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1333500" y="1524000"/>
              <a:ext cx="4095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Multi-Sensor Support</a:t>
              </a:r>
              <a:endParaRPr b="1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Expand hardware compatibility for diverse gas detection (CO, LPG, Smoke).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571500" y="2524125"/>
            <a:ext cx="5524500" cy="952500"/>
            <a:chOff x="571500" y="2524125"/>
            <a:chExt cx="5524500" cy="952500"/>
          </a:xfrm>
        </p:grpSpPr>
        <p:sp>
          <p:nvSpPr>
            <p:cNvPr id="327" name="Google Shape;327;p27"/>
            <p:cNvSpPr/>
            <p:nvPr/>
          </p:nvSpPr>
          <p:spPr>
            <a:xfrm>
              <a:off x="571500" y="2524125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62000" y="2808986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cloud_upload</a:t>
              </a:r>
              <a:endParaRPr b="0" sz="2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29" name="Google Shape;329;p27"/>
            <p:cNvSpPr txBox="1"/>
            <p:nvPr/>
          </p:nvSpPr>
          <p:spPr>
            <a:xfrm>
              <a:off x="1333500" y="2619375"/>
              <a:ext cx="4095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Cloud Data Logging</a:t>
              </a:r>
              <a:endParaRPr b="1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Integrate cloud storage for persistent, long-term PPM history and analysis.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0" name="Google Shape;330;p27"/>
          <p:cNvGrpSpPr/>
          <p:nvPr/>
        </p:nvGrpSpPr>
        <p:grpSpPr>
          <a:xfrm>
            <a:off x="571500" y="3619500"/>
            <a:ext cx="5524500" cy="952500"/>
            <a:chOff x="571500" y="3619500"/>
            <a:chExt cx="5524500" cy="952500"/>
          </a:xfrm>
        </p:grpSpPr>
        <p:sp>
          <p:nvSpPr>
            <p:cNvPr id="331" name="Google Shape;331;p27"/>
            <p:cNvSpPr/>
            <p:nvPr/>
          </p:nvSpPr>
          <p:spPr>
            <a:xfrm>
              <a:off x="571500" y="3619500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7"/>
            <p:cNvSpPr txBox="1"/>
            <p:nvPr/>
          </p:nvSpPr>
          <p:spPr>
            <a:xfrm>
              <a:off x="762000" y="390436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battery_charging_full</a:t>
              </a:r>
              <a:endParaRPr b="0" sz="2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3" name="Google Shape;333;p27"/>
            <p:cNvSpPr txBox="1"/>
            <p:nvPr/>
          </p:nvSpPr>
          <p:spPr>
            <a:xfrm>
              <a:off x="1333500" y="3714750"/>
              <a:ext cx="4095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Battery Backup System</a:t>
              </a:r>
              <a:endParaRPr b="1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Ensure system continuity during power outages with dedicated battery hardware.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4" name="Google Shape;334;p27"/>
          <p:cNvGrpSpPr/>
          <p:nvPr/>
        </p:nvGrpSpPr>
        <p:grpSpPr>
          <a:xfrm>
            <a:off x="571500" y="4714875"/>
            <a:ext cx="5524500" cy="952500"/>
            <a:chOff x="571500" y="4714875"/>
            <a:chExt cx="5524500" cy="952500"/>
          </a:xfrm>
        </p:grpSpPr>
        <p:sp>
          <p:nvSpPr>
            <p:cNvPr id="335" name="Google Shape;335;p27"/>
            <p:cNvSpPr/>
            <p:nvPr/>
          </p:nvSpPr>
          <p:spPr>
            <a:xfrm>
              <a:off x="571500" y="4714875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7"/>
            <p:cNvSpPr txBox="1"/>
            <p:nvPr/>
          </p:nvSpPr>
          <p:spPr>
            <a:xfrm>
              <a:off x="762000" y="4999736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restart_alt</a:t>
              </a:r>
              <a:endParaRPr b="0" sz="2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37" name="Google Shape;337;p27"/>
            <p:cNvSpPr txBox="1"/>
            <p:nvPr/>
          </p:nvSpPr>
          <p:spPr>
            <a:xfrm>
              <a:off x="1333500" y="4810125"/>
              <a:ext cx="4095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Physical Reset Interface</a:t>
              </a:r>
              <a:endParaRPr b="1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Add a tactile reset button for easier on-site maintenance and troubleshooting.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38" name="Google Shape;338;p27"/>
          <p:cNvGrpSpPr/>
          <p:nvPr/>
        </p:nvGrpSpPr>
        <p:grpSpPr>
          <a:xfrm>
            <a:off x="571500" y="5810250"/>
            <a:ext cx="5524500" cy="952500"/>
            <a:chOff x="571500" y="5810250"/>
            <a:chExt cx="5524500" cy="952500"/>
          </a:xfrm>
        </p:grpSpPr>
        <p:sp>
          <p:nvSpPr>
            <p:cNvPr id="339" name="Google Shape;339;p27"/>
            <p:cNvSpPr/>
            <p:nvPr/>
          </p:nvSpPr>
          <p:spPr>
            <a:xfrm>
              <a:off x="571500" y="5810250"/>
              <a:ext cx="55245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7"/>
            <p:cNvSpPr txBox="1"/>
            <p:nvPr/>
          </p:nvSpPr>
          <p:spPr>
            <a:xfrm>
              <a:off x="762000" y="6095111"/>
              <a:ext cx="476400" cy="476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960">
                  <a:solidFill>
                    <a:srgbClr val="3B82F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b="0" sz="2960">
                <a:solidFill>
                  <a:srgbClr val="3B82F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41" name="Google Shape;341;p27"/>
            <p:cNvSpPr txBox="1"/>
            <p:nvPr/>
          </p:nvSpPr>
          <p:spPr>
            <a:xfrm>
              <a:off x="1333500" y="5905500"/>
              <a:ext cx="40959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Web Visualization Dashboard</a:t>
              </a:r>
              <a:endParaRPr b="1" sz="140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Interactive web interface for real-time monitoring and PPM trend charts.</a:t>
              </a:r>
              <a:endParaRPr b="0" sz="11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pic>
        <p:nvPicPr>
          <p:cNvPr id="342" name="Google Shape;342;p27"/>
          <p:cNvPicPr preferRelativeResize="0"/>
          <p:nvPr/>
        </p:nvPicPr>
        <p:blipFill rotWithShape="1">
          <a:blip r:embed="rId5">
            <a:alphaModFix/>
          </a:blip>
          <a:srcRect b="3570" l="-2681" r="4469" t="-3570"/>
          <a:stretch/>
        </p:blipFill>
        <p:spPr>
          <a:xfrm>
            <a:off x="6191250" y="1238250"/>
            <a:ext cx="5238900" cy="5334000"/>
          </a:xfrm>
          <a:prstGeom prst="roundRect">
            <a:avLst>
              <a:gd fmla="val 3636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